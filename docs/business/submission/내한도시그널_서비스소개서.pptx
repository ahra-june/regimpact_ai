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팀명 엣지케이스는 규제 사고가 평균이 아니라 가장자리에서 난다는 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정의. 수치는 엔진 실제 판정값(구리시 8억·무주택 기준). 경력 한 줄은 "왜 이 팀이 이걸 아는가"에 여기서 답하려는 것이다 — 실적 수치는 마지막 장에만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경쟁 항목(지원서 4번)의 근거 슬라이드.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구조. 4,960px→844px 은 실측값이며 테스트로 고정돼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인용문은 원문 대조를 통과한 verbatim 인용이다.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사람 비교는 화면에 실제로 있는 기능이며 값은 엔진이 그린다.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 인터뷰에서 나온 요구가 이 기능이 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수치는 공개 저장소 코드로 재현 가능. 손으로 적은 숫자가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지원서 필수 포함 항목. 5번은 B2B 확장까지 잇는 고리다.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전부 공개 웹에 배포되어 있어 심사자가 직접 열어볼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정직한 구분 자체가 신뢰의 근거다.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검증 가능성이 이 팀의 차별점이다.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신한퓨처스랩 TOMORROW CHALLENGE · 팀 엣지케이스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1783080"/>
            <a:ext cx="11027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한도 시그널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66928" y="2889504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규제가 바뀐 다음 날, 내 대출 한도가 얼마에서 얼마로 달라졌고</a:t>
            </a:r>
            <a:endParaRPr lang="en-US" sz="17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경과규정 대상인지를 — 근거 조문과 함께 알려주는 개인화 시뮬레이터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4041648"/>
            <a:ext cx="306324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04164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금융앱 웹뷰 탑재형 제안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4681728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금융권 개인여신 데이터분석 8년 7개월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규제 변경일의 해석 · Rule 변경 · 테스트 · 전산 반영을 은행 안에서 수행했습니다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5394960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데모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ahra-june.github.io/RegImpact_AI/signal.html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5724144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설명서(출처·검증 포함) · /service.html   |   3분 자동 시연 · /demo.html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문제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규제는 저녁에 발표되고, 시행은 다음 날입니다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486400" cy="2834640"/>
          </a:xfrm>
          <a:prstGeom prst="roundRect">
            <a:avLst>
              <a:gd name="adj" fmla="val 2903"/>
            </a:avLst>
          </a:prstGeom>
          <a:solidFill>
            <a:srgbClr val="F4F6FB"/>
          </a:solidFill>
          <a:ln w="12700">
            <a:solidFill>
              <a:srgbClr val="DC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21214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날, 같은 아파트를 계약한 두 사람의 한도 차이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77824" y="248716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2억 4천만원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77824" y="343814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차이는 계약금 영수증 한 장입니다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929384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929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21424" y="188366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뉴스는 “LTV 70% → 40%”라고만 말합니다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821424" y="218541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실제로는 생애최초 70%, 서민·실수요 60%, 유주택 0%로 갈립니다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2862072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21424" y="28163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고객은 두 방향으로 틀립니다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821424" y="31181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대상인데 겁먹고 계약을 포기하거나, 대상이 아닌데 안심하다 잔금일에 막힙니다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379476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21424" y="37490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혼란은 전부 창구와 콜센터로 밀려옵니다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821424" y="40507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한 달 반 뒤에도 은행권 문의가 이어졌습니다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502920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06. 30  저녁 — 규제지역 3곳 추가 지정 (화성 동탄·용인 기흥·구리)  ·  시행 07. 01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5449824"/>
            <a:ext cx="11027664" cy="676656"/>
          </a:xfrm>
          <a:prstGeom prst="roundRect">
            <a:avLst>
              <a:gd name="adj" fmla="val 12162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5449824"/>
            <a:ext cx="10405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혼란을 창구 반대편에서 처리해 왔습니다  </a:t>
            </a:r>
            <a:pPr indent="0" marL="0">
              <a:buNone/>
            </a:pPr>
            <a:r>
              <a:rPr lang="en-US" sz="1200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금융권 개인여신 데이터분석 8년 7개월 — 발표 다음 날 해석 · Rule 변경 · 테스트 · 전산 반영이 제 업무였습니다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63276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금융위원회·국토교통부 보도참고자료(2026-06-30), 뉴시스(2026-08-14) — 전체 링크는 서비스 설명서 §12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왜 아직 안 풀렸나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도구는 이 질문에 구조적으로 답하지 못합니다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352958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922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대출한도 계산기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토스 · 핀다 · 뱅크몰 등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45059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‘오늘의 규칙’ 하나만 압니다. 변경 전/후 비교도, 경과규정 판정도, 근거도 없습니다.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4015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사람에게 같은 숫자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4256" y="1591056"/>
            <a:ext cx="352958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17922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 앱 한도조회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0288" y="21214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은행 공식 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90288" y="245059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심사에 가깝지만 신청 시점의 결과 하나만 나옵니다.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90288" y="34015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“바뀌면 나는?”에 무응답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1591056"/>
            <a:ext cx="3529584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7616" y="17922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규제 모니터링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57616" y="21214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레그테크 · 컴플라이언스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57616" y="245059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공문을 요약해 알리는 데서 끝납니다.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57616" y="34015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개인화 판정이 없음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114800"/>
            <a:ext cx="11027664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431596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실질적인 대체재는 오픈채팅방입니다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7824" y="46817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규제 발표 후 주담대 상담 오픈채팅방 참여자가 2,000명을 넘고 유료 상담방까지 등장했습니다. “저는 어떻게 되나요”에 이미 돈을 내는 수요가 있고, 그 질문이 지금은 은행 밖으로 흘러간다는 뜻입니다.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3276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이데일리(2026-07-31) 오픈채팅방·유료 상담방 · 토스피드 DSR 계산기의 ‘예측값·참고용’ 고지 — 서비스 설명서 §12-B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무엇을 하는가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일곱 개 주제를 옆으로 넘기며 답이 이어집니다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1463040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609344"/>
            <a:ext cx="256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96112" y="1609344"/>
            <a:ext cx="1042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조건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76272" y="1609344"/>
            <a:ext cx="1463040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76856" y="1609344"/>
            <a:ext cx="256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05456" y="1609344"/>
            <a:ext cx="1042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경과규정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85616" y="1609344"/>
            <a:ext cx="1463040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1609344"/>
            <a:ext cx="256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1609344"/>
            <a:ext cx="1042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한도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94960" y="1609344"/>
            <a:ext cx="1463040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95544" y="1609344"/>
            <a:ext cx="256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24144" y="1609344"/>
            <a:ext cx="1042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 금액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04304" y="1609344"/>
            <a:ext cx="1463040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04888" y="1609344"/>
            <a:ext cx="256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33488" y="1609344"/>
            <a:ext cx="1042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13648" y="1609344"/>
            <a:ext cx="1463040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14232" y="1609344"/>
            <a:ext cx="256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42832" y="1609344"/>
            <a:ext cx="1042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타임라인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222992" y="1609344"/>
            <a:ext cx="1463040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524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23576" y="1609344"/>
            <a:ext cx="256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52176" y="1609344"/>
            <a:ext cx="1042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물어보기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2212848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폰 한 화면에 한 주제 — 고객이 입력하는 곳은 1단계 한 곳뿐입니다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66928" y="2688336"/>
            <a:ext cx="5486400" cy="20574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DC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287121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한 화면에 다 담지 않았나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59536" y="320040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처음에는 전부 한 세로 화면에 담았습니다. 폰(390×844)에서 문서 높이가 4,960px — 한 화면을 여섯 번 밀어야 끝이었고, 실사용 리뷰에서 “스크롤만 하다 끝난다”는 반응이 나왔습니다. 주제별 가로 넘김으로 바꿔 화면 높이가 뷰포트와 같아졌습니다.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45936" y="2688336"/>
            <a:ext cx="5248656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38544" y="28712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스크롤 길이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38544" y="31821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4,960px</a:t>
            </a:r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  </a:t>
            </a:r>
            <a:pPr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844px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638544" y="37124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≈ 6화면 → 뷰포트 1화면 (가장 긴 주제도 1.3화면)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38544" y="40416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넘김은 CSS 스크롤 스냅이 담당하므로 스크립트가 죽어도 손가락으로는 넘어갑니다. 한 주제가 두 화면을 넘으면 자동 검사가 배포를 막습니다.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6928" y="4956048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조건과 결과가 다른 주제에 있으므로, 상단 요약 바(지금 조건 + 판정 LTV)가 따라다니고 누르면 조건 화면으로 돌아갑니다.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핵심 장면 ①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조건을 두 시점 규칙으로 각각 판정합니다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구리시 · 8억 아파트 · 무주택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5720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C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0665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 2026-06-30 · 변경 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59536" y="2359152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LTV 70%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59536" y="309067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5억 6천만원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59536" y="34381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비규제 기준선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68112" y="1883664"/>
            <a:ext cx="45720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20665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2026-07-01 ~ · 변경 후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760720" y="2359152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LTV 40%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760720" y="309067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3억 2천만원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760720" y="34381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규제지역 · 무주택 표준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076688" y="26151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−2억 4천만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76688" y="29809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만에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114800"/>
            <a:ext cx="11027664" cy="13716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DCE1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31596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값만 주지 않습니다 — 어느 규칙에서 그 결론이 났는지 판정 경로를 펼쳐 볼 수 있고, 근거 조문이 원문 그대로 붙습니다.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7824" y="4663440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“(주담대 LTV) 규제지역 내 주담대 취급시 LTV 강화(비규제지역70% → 규제지역40%)”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금융위원회 규제지역 추가 지정 관련 「긴급 가계부채 점검회의」 개최 (보도참고자료) · 2026-06-30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핵심 장면 ②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계약금 영수증 한 장이 한도를 가릅니다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날, 같은 가격의 아파트를 계약한 두 사람 — 조건 차이는 ‘계약금 납부 증명’ 하나뿐입니다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5720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06654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— 계약금 납부 증명 있음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2377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2026-06-28 계약 · 구리시 · 무주택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59536" y="2688336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LTV 70%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59536" y="34015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5억 6천만원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9536" y="373075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37307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경과규정 · 종전 기준 유지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68112" y="1883664"/>
            <a:ext cx="45720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206654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 — 계약금 증빙 없음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760720" y="2377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2026-06-28 계약 · 구리시 · 무주택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760720" y="2688336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LTV 40%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5760720" y="34015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3억 2천만원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60720" y="373075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7307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기준 적용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370832"/>
            <a:ext cx="11027664" cy="1133856"/>
          </a:xfrm>
          <a:prstGeom prst="roundRect">
            <a:avLst>
              <a:gd name="adj" fmla="val 725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457200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한도 계산기는 ‘오늘의 규칙’ 하나만 알기 때문에 이 두 사람에게 같은 숫자를 보여줍니다.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77824" y="491947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전/후와 경계 조건을 판정하는 것이 내 한도 시그널의 차이입니다. 규제 사고는 평균이 아니라 가장자리에서 납니다 — 팀명이 엣지케이스인 이유입니다.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핵심 장면 ③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한도를 막은 것이 LTV인지 DSR인지까지 짚어줍니다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연소득 5,000만원 · 기존 대출 월 상환 100만원 · 금리 4% · 만기 30년 · 은행권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9202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담보 비율 (LTV)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18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3억 2천만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212848"/>
            <a:ext cx="7498080" cy="146304"/>
          </a:xfrm>
          <a:prstGeom prst="roundRect">
            <a:avLst>
              <a:gd name="adj" fmla="val 50000"/>
            </a:avLst>
          </a:prstGeom>
          <a:solidFill>
            <a:srgbClr val="E5E8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212848"/>
            <a:ext cx="3996477" cy="14630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63347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가격구간 최대한도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26334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718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6억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2926080"/>
            <a:ext cx="7498080" cy="146304"/>
          </a:xfrm>
          <a:prstGeom prst="roundRect">
            <a:avLst>
              <a:gd name="adj" fmla="val 50000"/>
            </a:avLst>
          </a:prstGeom>
          <a:solidFill>
            <a:srgbClr val="E5E8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926080"/>
            <a:ext cx="7498080" cy="14630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34670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총부채원리금 (DSR)  ← 여기에 막혀요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33467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1억 4천만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3639312"/>
            <a:ext cx="7498080" cy="146304"/>
          </a:xfrm>
          <a:prstGeom prst="roundRect">
            <a:avLst>
              <a:gd name="adj" fmla="val 50000"/>
            </a:avLst>
          </a:prstGeom>
          <a:solidFill>
            <a:srgbClr val="E5E8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3639312"/>
            <a:ext cx="1747053" cy="146304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0599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총부채상환 (DTI · 아파트)  ← 여기에 막혀요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40599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1억 4천만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4352544"/>
            <a:ext cx="7498080" cy="146304"/>
          </a:xfrm>
          <a:prstGeom prst="roundRect">
            <a:avLst>
              <a:gd name="adj" fmla="val 50000"/>
            </a:avLst>
          </a:prstGeom>
          <a:solidFill>
            <a:srgbClr val="E5E8F0"/>
          </a:solidFill>
          <a:ln w="12700">
            <a:solidFill>
              <a:srgbClr val="E5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4352544"/>
            <a:ext cx="1747053" cy="146304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0" y="1920240"/>
            <a:ext cx="2999232" cy="3017520"/>
          </a:xfrm>
          <a:prstGeom prst="roundRect">
            <a:avLst>
              <a:gd name="adj" fmla="val 2744"/>
            </a:avLst>
          </a:prstGeom>
          <a:solidFill>
            <a:srgbClr val="F4F6FB"/>
          </a:solidFill>
          <a:ln w="12700">
            <a:solidFill>
              <a:srgbClr val="DCE1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51392" y="2103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역산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851392" y="24140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“4억을 빌리고 싶어요”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851392" y="27249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2억 6천만원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모자랍니다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851392" y="3364992"/>
            <a:ext cx="25420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주택가격 10억 이상이면 이 한도로 목표에 닿기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연소득 9천만 이상 인정받기 (기존 부채를 전부 갚아도 이 한도만으로는 닿지 않음)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595360" y="5047488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진단에서 끝내지 않고 행동으로 잇습니다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" y="490118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“당신의 한도는 1억 4천만원이고, LTV가 아니라 DSR·DTI 때문입니다”라고 말해주는 계산기는 현재 없습니다.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3276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추정 · 원리금균등 상환 기준이며 스트레스 금리 가산은 미반영 — 실제 한도는 이보다 적을 수 있고 최종 금액은 은행 심사로 확정됩니다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왜 믿을 수 있나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판정하지 않는 AI 서비스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한도 안내가 틀리면 그건 오답이 아니라 금융사고입니다. 그래서 역할을 갈랐습니다.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3529584" cy="1225296"/>
          </a:xfrm>
          <a:prstGeom prst="roundRect">
            <a:avLst>
              <a:gd name="adj" fmla="val 6716"/>
            </a:avLst>
          </a:prstGeom>
          <a:solidFill>
            <a:srgbClr val="17204E"/>
          </a:solidFill>
          <a:ln w="12700">
            <a:solidFill>
              <a:srgbClr val="3540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1031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43230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공문에서 사실만 추출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항목마다 원문 인용 강제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4256" y="1938528"/>
            <a:ext cx="3529584" cy="1225296"/>
          </a:xfrm>
          <a:prstGeom prst="roundRect">
            <a:avLst>
              <a:gd name="adj" fmla="val 6716"/>
            </a:avLst>
          </a:prstGeom>
          <a:solidFill>
            <a:srgbClr val="17204E"/>
          </a:solidFill>
          <a:ln w="12700">
            <a:solidFill>
              <a:srgbClr val="3540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8576" y="21031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룰엔진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08576" y="243230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판정은 사람이 확정한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명세의 결정적 구현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01584" y="1938528"/>
            <a:ext cx="3529584" cy="1225296"/>
          </a:xfrm>
          <a:prstGeom prst="roundRect">
            <a:avLst>
              <a:gd name="adj" fmla="val 6716"/>
            </a:avLst>
          </a:prstGeom>
          <a:solidFill>
            <a:srgbClr val="17204E"/>
          </a:solidFill>
          <a:ln w="12700">
            <a:solidFill>
              <a:srgbClr val="3540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75904" y="21031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오라클·테스트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75904" y="243230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명세에서 따로 유도한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검증기와 전 케이스 대조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3474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 / 75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66928" y="404164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인용이 원문에 실재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(글자 단위 대조)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92424" y="3474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/ 36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92424" y="404164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룰엔진 ↔ 독립 오라클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케이스 일치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17920" y="3474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924건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217920" y="404164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판정 엔진 ↔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자동 대조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043416" y="3474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636개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043416" y="404164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테스트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전량 통과가 배포 조건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828032"/>
            <a:ext cx="11027664" cy="1005840"/>
          </a:xfrm>
          <a:prstGeom prst="roundRect">
            <a:avLst>
              <a:gd name="adj" fmla="val 8182"/>
            </a:avLst>
          </a:prstGeom>
          <a:solidFill>
            <a:srgbClr val="17204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49926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성적표를 함께 공개합니다 — 12개 지표를 확정 임계와 대조해 11개 통과 · 미달 0 · 미측정 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77824" y="532180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미측정을 통과로 세지 않습니다. 모르는 것을 통과로 처리하는 것이 검증 체계가 무력해지는 가장 흔한 경로이기 때문입니다.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필수 항목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슈퍼SOL 연계 기대효과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33856" y="15361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규제 발표일의 경험 차별화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64608" y="1536192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앱은 뉴스를 주고, 슈퍼SOL은 ‘내 답’을 줍니다. 고객 불안이 최고조인 시점에 개인화된 답변을 제공하는 첫 금융앱이 됩니다.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35915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33856" y="232257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부담 분산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64608" y="2322576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직후 창구·콜센터로 몰리는 “저는 어떻게 되나요”를 앱 내 자가확인으로 흡수합니다.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14553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33856" y="31089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주담대 퍼널 상단 선점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64608" y="3108960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한도가 궁금한 순간이 대출 여정의 시작점입니다. 기존 한도조회를 대체하지 않고 앞단에서 증폭해 상담·조회로 잇습니다.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93192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33856" y="389534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 브랜딩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64608" y="3895344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조문 인용과 검증 체계에 기반한 AI 안내는 금융 AI 설명책임 흐름과 정합하며, ‘믿을 수 있는 AI’를 슈퍼SOL의 자산으로 만듭니다.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71830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33856" y="46817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 확장성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64608" y="4681728"/>
            <a:ext cx="6766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엔진이 심사·리스크 현업 도구로 확장되므로, 한 번의 온보딩으로 고객 콘텐츠와 내부 업무도구가 함께 열립니다.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541264"/>
            <a:ext cx="11027664" cy="786384"/>
          </a:xfrm>
          <a:prstGeom prst="roundRect">
            <a:avLst>
              <a:gd name="adj" fmla="val 10465"/>
            </a:avLst>
          </a:prstGeom>
          <a:solidFill>
            <a:srgbClr val="F4F6FB"/>
          </a:solidFill>
          <a:ln w="12700">
            <a:solidFill>
              <a:srgbClr val="DCE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574243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탑재 부담도 적습니다 — 판정 엔진이 브라우저에서 동작하므로 웹뷰 하나로 탑재되고, 서버 호출이 없어 고객 입력이 외부로 나가지 않습니다.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확장성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엔진이 고객 화면과 현업 도구를 동시에 구동합니다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499616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보는 답과 창구·심사가 보는 근거가 같은 엔진에서 나옵니다 — 발표일 응대의 일관성이 구조적으로 확보됩니다.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11027664" cy="713232"/>
          </a:xfrm>
          <a:prstGeom prst="roundRect">
            <a:avLst>
              <a:gd name="adj" fmla="val 1153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5681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규제 변경 추출·검증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33088" y="195681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공문에서 변경 항목을 구조화하고 인용을 원문 대조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482328" y="195681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변경 75건 · 인용 100%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임팩트 매트릭스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33088" y="274320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업무영역별 조치·기한·담당. 자동처리 불가 행은 사유 없이 생성 불가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482328" y="27432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30행 · 자동처리 67%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456432"/>
            <a:ext cx="11027664" cy="713232"/>
          </a:xfrm>
          <a:prstGeom prst="roundRect">
            <a:avLst>
              <a:gd name="adj" fmla="val 1153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52958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포트폴리오 영향 분석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33088" y="352958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신청 건을 시행 전·후 두 시점으로 전량 재평가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482328" y="35295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638건 감소 · −1,549억 원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3159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룰 변경안 + 회귀 테스트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33088" y="4315968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심사 룰 개정안과 테스트케이스 자동 생성·검증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482328" y="43159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36케이스 100%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5029200"/>
            <a:ext cx="11027664" cy="713232"/>
          </a:xfrm>
          <a:prstGeom prst="roundRect">
            <a:avLst>
              <a:gd name="adj" fmla="val 1153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10235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검증보고서 · 모델카드 · 리스크 레지스터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133088" y="510235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감독 대응·내부 증빙 문서를 같은 실행에서 자동 생성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482328" y="510235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리스크 18건 / 5범주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5888736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검증된 엔진으로 B2C 콘텐츠와 B2B 내부 도구를 동시에 서비스합니다.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3276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포트폴리오 수치는 층화 합성 데이터 기반이며 실 고객 데이터를 사용하지 않았습니다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구현 상태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과장하지 않기 위해 구분해 밝힙니다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486400" cy="38404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75564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동작합니다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9536" y="20848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데모에서 직접 확인 가능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59536" y="2432304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전/후 판정 · 경과규정 · 예외 판정 엔진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가능금액 계산 (LTV·최대한도·DSR·DTI + 병목 표시)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역산 — 부채 감축액·필요 소득·만기 처방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내게 가능한 상품 찾기 — 3상태 자격 판정 + 원문 인용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한도 타임라인 — 정책 버전 DB 실데이터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조문 인용 · 원문 전체 열람 · 문장 강조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공문 원문 검색(BM25) 및 recall 실측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 산출물 전체 (추출 검증 · 매트릭스 · 검증보고서)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45936" y="1554480"/>
            <a:ext cx="5248656" cy="38404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38544" y="175564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PoC 기간 목표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38544" y="20848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안 되는 것을 되는 것처럼 적지 않습니다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638544" y="2432304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자유 질문에 문장으로 답하는 LLM 연결 (모든 문장에 인용 부착)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공문 수집·추출 파이프라인 자동화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슈퍼SOL 웹뷰 연동 및 사용성 테스트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저장 + 한도 변동 알림 구독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자격 판정에 은행 실제 상품 데이터 결합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38544" y="4297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현재의 한계 — 그대로 밝힙니다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38544" y="459028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스트레스 금리 가산 미반영 · 최종 금액은 은행 심사로 확정 · 원문에 기준값이 없는 구간은 추정하지 않고 사람 검토로 넘깁니다. 커버리지가 100%가 아닌 이유가 이것이며, 값을 지어내면 즉시 100%가 됩니다.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5577840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18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자리를 비워 두는 것이 이 서비스의 설계 원칙입니다.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팀 · 확인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열어 보고 검증해 주세요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17204E"/>
          </a:solidFill>
          <a:ln w="12700">
            <a:solidFill>
              <a:srgbClr val="3540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71907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엣지케이스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77824" y="20665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금융권 개인여신 데이터분석 8년 7개월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241401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규제가 바뀌는 날 은행 안에서 해석 → Rule 변경 → 테스트 → 전산 반영을 직접 수행한 당사자입니다. LTV 차등 전략을 설계해 불량률 5.77% → 3.16%로 개선한 실적이 있습니다.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325526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도메인 지식으로 룰엔진부터 검증 체계, 고객 화면까지 MVP를 완성했습니다.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5936" y="1517904"/>
            <a:ext cx="5248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ahra-june.github.io/RegImpact_AI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45936" y="1956816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/signal.html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고객 화면 (핵심)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45936" y="2340864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/demo.html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3분 자동 시연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45936" y="2724912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/service.html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서비스 설명서 (출처·검증 포함)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45936" y="3108960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/validation_summary.html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검증 요약 1페이지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45936" y="3493008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전체 산출물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4114800"/>
            <a:ext cx="11027664" cy="1371600"/>
          </a:xfrm>
          <a:prstGeom prst="roundRect">
            <a:avLst>
              <a:gd name="adj" fmla="val 6000"/>
            </a:avLst>
          </a:prstGeom>
          <a:solidFill>
            <a:srgbClr val="17204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31596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협업 이력의 공백은 산출물의 투명성으로 대신합니다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7824" y="46634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데모 · 시스템 검증보고서 · 모델/시스템 카드 · AI 리스크 레지스터를 모두 공개 웹에 배포해 두었습니다. 협업 상대가 계약 전에 직접 열어 보고 검증할 수 있습니다.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문서의 성능 수치는 공개 파이프라인을 실제로 실행해 산출한 값이며, 손으로 적은 숫자가 없습니다.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5852160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보도자료·FAQ 만 사용했습니다. 실제 회사 문서·고객 데이터는 쓰지 않았고, 포트폴리오는 층화 합성 데이터입니다.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내 한도 시그널 — 서비스 소개서</dc:title>
  <dc:subject>PptxGenJS Presentation</dc:subject>
  <dc:creator>팀 엣지케이스</dc:creator>
  <cp:lastModifiedBy>팀 엣지케이스</cp:lastModifiedBy>
  <cp:revision>1</cp:revision>
  <dcterms:created xsi:type="dcterms:W3CDTF">2026-08-23T10:16:16Z</dcterms:created>
  <dcterms:modified xsi:type="dcterms:W3CDTF">2026-08-23T10:16:16Z</dcterms:modified>
</cp:coreProperties>
</file>